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27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877" autoAdjust="0"/>
  </p:normalViewPr>
  <p:slideViewPr>
    <p:cSldViewPr snapToGrid="0">
      <p:cViewPr varScale="1">
        <p:scale>
          <a:sx n="103" d="100"/>
          <a:sy n="103" d="100"/>
        </p:scale>
        <p:origin x="8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FACA13-D921-4963-933E-D3FA6435469F}" type="datetimeFigureOut">
              <a:rPr lang="es-AR" smtClean="0"/>
              <a:t>7/1/2026</a:t>
            </a:fld>
            <a:endParaRPr lang="es-A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BFDA85-3447-4A67-BCAA-6A31B5A6ABB5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56432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C157E0A-F321-48DC-AF94-681D4DCF344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050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BAB3946-10BF-2081-C1F9-A308DE9155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629620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1" progId="TCLayout.ActiveDocument.1">
                  <p:embed/>
                </p:oleObj>
              </mc:Choice>
              <mc:Fallback>
                <p:oleObj name="think-cell Slide" r:id="rId3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BAB3946-10BF-2081-C1F9-A308DE9155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990600"/>
          </a:xfrm>
        </p:spPr>
        <p:txBody>
          <a:bodyPr vert="horz"/>
          <a:lstStyle>
            <a:lvl1pPr rtl="0">
              <a:defRPr sz="3600"/>
            </a:lvl1pPr>
          </a:lstStyle>
          <a:p>
            <a:r>
              <a:rPr lang="en-US"/>
              <a:t>Place headline here (36pt, min 30pt)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81001" y="1371601"/>
            <a:ext cx="11430000" cy="49403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3748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9656BFC-80D5-3A7C-A046-42E03AD108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1570940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9656BFC-80D5-3A7C-A046-42E03AD108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 userDrawn="1"/>
        </p:nvSpPr>
        <p:spPr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alpha val="75000"/>
                  </a:schemeClr>
                </a:solidFill>
              </a:rPr>
              <a:t>Copyright © 2025 Accenture. All rights reserved.</a:t>
            </a:r>
            <a:endParaRPr lang="en-US" noProof="0" dirty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US" sz="800" smtClean="0">
                <a:solidFill>
                  <a:schemeClr val="tx1">
                    <a:alpha val="75000"/>
                  </a:schemeClr>
                </a:solidFill>
              </a:rPr>
              <a:pPr marL="0" marR="0" lvl="0" indent="0" algn="r" defTabSz="228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2DB82-2141-42CD-9AE7-8A744B363FBC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 rtl="0">
              <a:defRPr lang="en-US" sz="800" smtClean="0">
                <a:noFill/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s-MX" smtClean="0"/>
              <a:pPr algn="r" defTabSz="228600">
                <a:spcAft>
                  <a:spcPts val="1200"/>
                </a:spcAft>
              </a:pPr>
              <a:t>‹#›</a:t>
            </a:fld>
            <a:endParaRPr lang="es-MX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81000" y="1371600"/>
            <a:ext cx="11430000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 20pt)</a:t>
            </a:r>
          </a:p>
          <a:p>
            <a:pPr lvl="1"/>
            <a:r>
              <a:rPr lang="en-US"/>
              <a:t>Second level (bullet 20pt)</a:t>
            </a:r>
          </a:p>
          <a:p>
            <a:pPr lvl="2"/>
            <a:r>
              <a:rPr lang="en-US"/>
              <a:t>Third level (bullet 20pt)</a:t>
            </a:r>
          </a:p>
          <a:p>
            <a:pPr lvl="3"/>
            <a:r>
              <a:rPr lang="en-US"/>
              <a:t>Fourth level (bullet 18pt)</a:t>
            </a:r>
          </a:p>
          <a:p>
            <a:pPr lvl="4"/>
            <a:r>
              <a:rPr lang="en-US"/>
              <a:t>Fifth level (bullet 18pt)</a:t>
            </a:r>
          </a:p>
          <a:p>
            <a:pPr lvl="5"/>
            <a:r>
              <a:rPr lang="en-US"/>
              <a:t>Sixth level (copy 16pt)</a:t>
            </a:r>
          </a:p>
          <a:p>
            <a:pPr lvl="6"/>
            <a:r>
              <a:rPr lang="en-US"/>
              <a:t>Seventh level (small copy 12pt)</a:t>
            </a:r>
          </a:p>
          <a:p>
            <a:pPr lvl="7"/>
            <a:r>
              <a:rPr lang="en-US"/>
              <a:t>EIGHT LEVEL (DESCRIPTOR 10PT)</a:t>
            </a:r>
          </a:p>
          <a:p>
            <a:pPr lvl="8"/>
            <a:r>
              <a:rPr lang="en-US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>
            <a:off x="9787944" y="0"/>
            <a:ext cx="2023056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DCDE1A5-7B8C-446C-B047-DEF343C830D4}" type="datetime2">
              <a:rPr lang="es-MX" smtClean="0"/>
              <a:pPr/>
              <a:t>miércoles, 7 de enero de 2026</a:t>
            </a:fld>
            <a:endParaRPr lang="es-MX"/>
          </a:p>
        </p:txBody>
      </p:sp>
      <p:pic>
        <p:nvPicPr>
          <p:cNvPr id="6" name="Picture 5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E306151F-579E-4A3E-8949-882557B1D7B1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822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5ACBF0"/>
          </p15:clr>
        </p15:guide>
        <p15:guide id="2" orient="horz" pos="3976">
          <p15:clr>
            <a:srgbClr val="5ACBF0"/>
          </p15:clr>
        </p15:guide>
        <p15:guide id="3" pos="240">
          <p15:clr>
            <a:srgbClr val="5ACBF0"/>
          </p15:clr>
        </p15:guide>
        <p15:guide id="4" pos="7440">
          <p15:clr>
            <a:srgbClr val="5ACBF0"/>
          </p15:clr>
        </p15:guide>
        <p15:guide id="5" orient="horz" pos="4148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Object 15" hidden="1">
            <a:extLst>
              <a:ext uri="{FF2B5EF4-FFF2-40B4-BE49-F238E27FC236}">
                <a16:creationId xmlns:a16="http://schemas.microsoft.com/office/drawing/2014/main" id="{06E03440-0DFF-F641-5750-C581B127062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7711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16" name="Object 15" hidden="1">
                        <a:extLst>
                          <a:ext uri="{FF2B5EF4-FFF2-40B4-BE49-F238E27FC236}">
                            <a16:creationId xmlns:a16="http://schemas.microsoft.com/office/drawing/2014/main" id="{06E03440-0DFF-F641-5750-C581B127062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8DB0432-9414-4CD8-9C5D-EF2E5C735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4148" y="666172"/>
            <a:ext cx="10339251" cy="682808"/>
          </a:xfrm>
        </p:spPr>
        <p:txBody>
          <a:bodyPr vert="horz" anchor="ctr"/>
          <a:lstStyle/>
          <a:p>
            <a:r>
              <a:rPr lang="en-US" sz="3200" b="0" dirty="0">
                <a:highlight>
                  <a:srgbClr val="FFFF00"/>
                </a:highlight>
              </a:rPr>
              <a:t>SC&amp;O – Management Consulting Sr. Manager (CL 6)</a:t>
            </a:r>
            <a:endParaRPr lang="en-US" sz="3200" dirty="0">
              <a:highlight>
                <a:srgbClr val="FFFF00"/>
              </a:highlight>
            </a:endParaRPr>
          </a:p>
        </p:txBody>
      </p:sp>
      <p:sp>
        <p:nvSpPr>
          <p:cNvPr id="4" name="Functional Experience">
            <a:extLst>
              <a:ext uri="{FF2B5EF4-FFF2-40B4-BE49-F238E27FC236}">
                <a16:creationId xmlns:a16="http://schemas.microsoft.com/office/drawing/2014/main" id="{7F60CA17-433C-4DA3-8A65-8F610DC5A2B5}"/>
              </a:ext>
            </a:extLst>
          </p:cNvPr>
          <p:cNvSpPr/>
          <p:nvPr/>
        </p:nvSpPr>
        <p:spPr>
          <a:xfrm>
            <a:off x="381539" y="4864359"/>
            <a:ext cx="1740677" cy="199364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pPr marL="171450" lvl="0" indent="-171450" fontAlgn="base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endParaRPr lang="en-US" sz="10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+mj-lt"/>
              <a:cs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020B0-E321-4B50-910C-11BDE4E56361}"/>
              </a:ext>
            </a:extLst>
          </p:cNvPr>
          <p:cNvSpPr/>
          <p:nvPr/>
        </p:nvSpPr>
        <p:spPr>
          <a:xfrm>
            <a:off x="381000" y="1602604"/>
            <a:ext cx="3127654" cy="22659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highlight>
                  <a:srgbClr val="FFFF00"/>
                </a:highlight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@accenture.com</a:t>
            </a:r>
          </a:p>
        </p:txBody>
      </p:sp>
      <p:sp>
        <p:nvSpPr>
          <p:cNvPr id="6" name="Profile Overview">
            <a:extLst>
              <a:ext uri="{FF2B5EF4-FFF2-40B4-BE49-F238E27FC236}">
                <a16:creationId xmlns:a16="http://schemas.microsoft.com/office/drawing/2014/main" id="{5E2451BC-D597-4BCF-B773-4EE789539D75}"/>
              </a:ext>
            </a:extLst>
          </p:cNvPr>
          <p:cNvSpPr/>
          <p:nvPr/>
        </p:nvSpPr>
        <p:spPr>
          <a:xfrm>
            <a:off x="381000" y="2120642"/>
            <a:ext cx="3127654" cy="141361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Graphik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Industry Experience">
            <a:extLst>
              <a:ext uri="{FF2B5EF4-FFF2-40B4-BE49-F238E27FC236}">
                <a16:creationId xmlns:a16="http://schemas.microsoft.com/office/drawing/2014/main" id="{4C9455BE-8EED-4604-9C72-8BBC0CFFC2DC}"/>
              </a:ext>
            </a:extLst>
          </p:cNvPr>
          <p:cNvSpPr/>
          <p:nvPr/>
        </p:nvSpPr>
        <p:spPr>
          <a:xfrm>
            <a:off x="2201332" y="4961467"/>
            <a:ext cx="1307322" cy="188423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pPr fontAlgn="base">
              <a:spcBef>
                <a:spcPts val="100"/>
              </a:spcBef>
              <a:spcAft>
                <a:spcPts val="100"/>
              </a:spcAft>
              <a:defRPr/>
            </a:pPr>
            <a:endParaRPr lang="en-US" sz="900" dirty="0">
              <a:solidFill>
                <a:srgbClr val="666666"/>
              </a:solidFill>
              <a:latin typeface="Graphik"/>
              <a:cs typeface="Calibri" panose="020F0502020204030204" pitchFamily="34" charset="0"/>
            </a:endParaRPr>
          </a:p>
          <a:p>
            <a:pPr marL="171450" lvl="0" indent="-171450" fontAlgn="base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Graphik"/>
              <a:ea typeface="+mn-ea"/>
              <a:cs typeface="Calibri" panose="020F0502020204030204" pitchFamily="34" charset="0"/>
            </a:endParaRPr>
          </a:p>
        </p:txBody>
      </p:sp>
      <p:sp>
        <p:nvSpPr>
          <p:cNvPr id="9" name="Professional Education">
            <a:extLst>
              <a:ext uri="{FF2B5EF4-FFF2-40B4-BE49-F238E27FC236}">
                <a16:creationId xmlns:a16="http://schemas.microsoft.com/office/drawing/2014/main" id="{A4481A3F-5D57-420E-9C84-56D1E06B122E}"/>
              </a:ext>
            </a:extLst>
          </p:cNvPr>
          <p:cNvSpPr/>
          <p:nvPr/>
        </p:nvSpPr>
        <p:spPr>
          <a:xfrm>
            <a:off x="381000" y="3808086"/>
            <a:ext cx="3127654" cy="74046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Graphik"/>
              <a:ea typeface="+mn-ea"/>
              <a:cs typeface="Calibri" panose="020F05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85E9D2-4934-4E1F-87A3-4228EB9788C5}"/>
              </a:ext>
            </a:extLst>
          </p:cNvPr>
          <p:cNvSpPr/>
          <p:nvPr/>
        </p:nvSpPr>
        <p:spPr>
          <a:xfrm>
            <a:off x="381540" y="4603148"/>
            <a:ext cx="1740676" cy="261211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Functional Experience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D8E43D-DA2B-4F03-A66C-BF0A68978053}"/>
              </a:ext>
            </a:extLst>
          </p:cNvPr>
          <p:cNvSpPr/>
          <p:nvPr/>
        </p:nvSpPr>
        <p:spPr>
          <a:xfrm>
            <a:off x="381000" y="1371595"/>
            <a:ext cx="3127654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Contact Details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BDEB89-9223-4649-B53C-C103DA91BDFD}"/>
              </a:ext>
            </a:extLst>
          </p:cNvPr>
          <p:cNvSpPr/>
          <p:nvPr/>
        </p:nvSpPr>
        <p:spPr>
          <a:xfrm>
            <a:off x="381000" y="1872104"/>
            <a:ext cx="3127654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Experience Summary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15382F-EA0B-41AB-8129-B4E7EB807973}"/>
              </a:ext>
            </a:extLst>
          </p:cNvPr>
          <p:cNvSpPr/>
          <p:nvPr/>
        </p:nvSpPr>
        <p:spPr>
          <a:xfrm>
            <a:off x="2201332" y="4603148"/>
            <a:ext cx="1307322" cy="358319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Industry Experience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C37CB9B-58CA-46AD-B270-83C31FDC827C}"/>
              </a:ext>
            </a:extLst>
          </p:cNvPr>
          <p:cNvSpPr/>
          <p:nvPr/>
        </p:nvSpPr>
        <p:spPr>
          <a:xfrm>
            <a:off x="3587768" y="1371595"/>
            <a:ext cx="8222692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Selected Relevant Experience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F4CE33-60B1-487A-B220-CFC8A2BF7248}"/>
              </a:ext>
            </a:extLst>
          </p:cNvPr>
          <p:cNvSpPr/>
          <p:nvPr/>
        </p:nvSpPr>
        <p:spPr>
          <a:xfrm>
            <a:off x="381000" y="3556871"/>
            <a:ext cx="3127654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Education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A437470-73DA-A6CD-A987-21D134032F4C}"/>
              </a:ext>
            </a:extLst>
          </p:cNvPr>
          <p:cNvSpPr/>
          <p:nvPr/>
        </p:nvSpPr>
        <p:spPr>
          <a:xfrm>
            <a:off x="401849" y="287021"/>
            <a:ext cx="988412" cy="96965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18" name="Name">
            <a:extLst>
              <a:ext uri="{FF2B5EF4-FFF2-40B4-BE49-F238E27FC236}">
                <a16:creationId xmlns:a16="http://schemas.microsoft.com/office/drawing/2014/main" id="{51F5CF41-9D92-BF9B-2D17-31167D39A9AF}"/>
              </a:ext>
            </a:extLst>
          </p:cNvPr>
          <p:cNvSpPr txBox="1">
            <a:spLocks/>
          </p:cNvSpPr>
          <p:nvPr/>
        </p:nvSpPr>
        <p:spPr>
          <a:xfrm>
            <a:off x="1624148" y="231699"/>
            <a:ext cx="10339251" cy="482266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0" dirty="0">
                <a:latin typeface="Graphik Semibold" panose="020B0703030202060203" pitchFamily="34" charset="0"/>
              </a:rPr>
              <a:t>NAME SURNAME</a:t>
            </a:r>
          </a:p>
        </p:txBody>
      </p:sp>
      <p:sp>
        <p:nvSpPr>
          <p:cNvPr id="21" name="Role_1">
            <a:extLst>
              <a:ext uri="{FF2B5EF4-FFF2-40B4-BE49-F238E27FC236}">
                <a16:creationId xmlns:a16="http://schemas.microsoft.com/office/drawing/2014/main" id="{AC5BD33C-BBD0-4F35-D9E3-8E32CCA337B4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5" y="1656911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pPr fontAlgn="base">
              <a:defRPr/>
            </a:pPr>
            <a:endParaRPr lang="es-AR" sz="900" dirty="0">
              <a:solidFill>
                <a:srgbClr val="666666"/>
              </a:solidFill>
              <a:latin typeface="Graphik" panose="020B0503030202060203" pitchFamily="34" charset="0"/>
              <a:cs typeface="Calibri" panose="020F0502020204030204" pitchFamily="34" charset="0"/>
            </a:endParaRPr>
          </a:p>
        </p:txBody>
      </p:sp>
      <p:sp>
        <p:nvSpPr>
          <p:cNvPr id="8" name="Role_2">
            <a:extLst>
              <a:ext uri="{FF2B5EF4-FFF2-40B4-BE49-F238E27FC236}">
                <a16:creationId xmlns:a16="http://schemas.microsoft.com/office/drawing/2014/main" id="{F1C2E025-CDB6-C1F9-EA83-B5DE94D13A02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2288090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pPr fontAlgn="base">
              <a:defRPr/>
            </a:pPr>
            <a:endParaRPr lang="es-AR" sz="900" dirty="0">
              <a:solidFill>
                <a:srgbClr val="666666"/>
              </a:solidFill>
              <a:latin typeface="Graphik" panose="020B0503030202060203" pitchFamily="34" charset="0"/>
              <a:cs typeface="Calibri" panose="020F0502020204030204" pitchFamily="34" charset="0"/>
            </a:endParaRPr>
          </a:p>
        </p:txBody>
      </p:sp>
      <p:sp>
        <p:nvSpPr>
          <p:cNvPr id="22" name="Role_3">
            <a:extLst>
              <a:ext uri="{FF2B5EF4-FFF2-40B4-BE49-F238E27FC236}">
                <a16:creationId xmlns:a16="http://schemas.microsoft.com/office/drawing/2014/main" id="{338B1B08-CC77-087C-D49C-F66BCF289F15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2929308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pPr fontAlgn="base">
              <a:defRPr/>
            </a:pPr>
            <a:endParaRPr lang="es-AR" sz="900" dirty="0">
              <a:solidFill>
                <a:srgbClr val="666666"/>
              </a:solidFill>
              <a:latin typeface="Graphik" panose="020B0503030202060203" pitchFamily="34" charset="0"/>
              <a:cs typeface="Calibri" panose="020F0502020204030204" pitchFamily="34" charset="0"/>
            </a:endParaRPr>
          </a:p>
        </p:txBody>
      </p:sp>
      <p:sp>
        <p:nvSpPr>
          <p:cNvPr id="23" name="Role_4">
            <a:extLst>
              <a:ext uri="{FF2B5EF4-FFF2-40B4-BE49-F238E27FC236}">
                <a16:creationId xmlns:a16="http://schemas.microsoft.com/office/drawing/2014/main" id="{71CFF229-F5CF-3BCD-DDF1-252E7CCACCF9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3559199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pPr fontAlgn="base">
              <a:defRPr/>
            </a:pPr>
            <a:endParaRPr lang="es-AR" sz="900" dirty="0">
              <a:solidFill>
                <a:srgbClr val="666666"/>
              </a:solidFill>
              <a:latin typeface="Graphik" panose="020B0503030202060203" pitchFamily="34" charset="0"/>
              <a:cs typeface="Calibri" panose="020F0502020204030204" pitchFamily="34" charset="0"/>
            </a:endParaRPr>
          </a:p>
        </p:txBody>
      </p:sp>
      <p:sp>
        <p:nvSpPr>
          <p:cNvPr id="24" name="Role_5">
            <a:extLst>
              <a:ext uri="{FF2B5EF4-FFF2-40B4-BE49-F238E27FC236}">
                <a16:creationId xmlns:a16="http://schemas.microsoft.com/office/drawing/2014/main" id="{ED32BEC5-542E-9A98-5D36-8C5C1AA44BEE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4189090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pPr fontAlgn="base">
              <a:defRPr/>
            </a:pPr>
            <a:endParaRPr lang="es-AR" sz="900" dirty="0">
              <a:solidFill>
                <a:srgbClr val="666666"/>
              </a:solidFill>
              <a:latin typeface="Graphik" panose="020B0503030202060203" pitchFamily="34" charset="0"/>
              <a:cs typeface="Calibri" panose="020F0502020204030204" pitchFamily="34" charset="0"/>
            </a:endParaRPr>
          </a:p>
        </p:txBody>
      </p:sp>
      <p:sp>
        <p:nvSpPr>
          <p:cNvPr id="25" name="Role_6">
            <a:extLst>
              <a:ext uri="{FF2B5EF4-FFF2-40B4-BE49-F238E27FC236}">
                <a16:creationId xmlns:a16="http://schemas.microsoft.com/office/drawing/2014/main" id="{D641828F-96A3-54AF-7F03-AD51F4337059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4849495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pPr fontAlgn="base">
              <a:defRPr/>
            </a:pPr>
            <a:endParaRPr lang="es-AR" sz="900" dirty="0">
              <a:solidFill>
                <a:srgbClr val="666666"/>
              </a:solidFill>
              <a:latin typeface="Graphik" panose="020B0503030202060203" pitchFamily="34" charset="0"/>
              <a:cs typeface="Calibri" panose="020F0502020204030204" pitchFamily="34" charset="0"/>
            </a:endParaRPr>
          </a:p>
        </p:txBody>
      </p:sp>
      <p:sp>
        <p:nvSpPr>
          <p:cNvPr id="26" name="Role_7">
            <a:extLst>
              <a:ext uri="{FF2B5EF4-FFF2-40B4-BE49-F238E27FC236}">
                <a16:creationId xmlns:a16="http://schemas.microsoft.com/office/drawing/2014/main" id="{765E2949-CC4F-D87A-7E1E-810525829290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5479386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pPr fontAlgn="base">
              <a:defRPr/>
            </a:pPr>
            <a:endParaRPr lang="es-AR" sz="900" dirty="0">
              <a:solidFill>
                <a:srgbClr val="666666"/>
              </a:solidFill>
              <a:latin typeface="Graphik" panose="020B0503030202060203" pitchFamily="34" charset="0"/>
              <a:cs typeface="Calibri" panose="020F0502020204030204" pitchFamily="34" charset="0"/>
            </a:endParaRPr>
          </a:p>
        </p:txBody>
      </p:sp>
      <p:sp>
        <p:nvSpPr>
          <p:cNvPr id="27" name="Role_8">
            <a:extLst>
              <a:ext uri="{FF2B5EF4-FFF2-40B4-BE49-F238E27FC236}">
                <a16:creationId xmlns:a16="http://schemas.microsoft.com/office/drawing/2014/main" id="{91147543-93F4-EE64-7E95-BA231CC75680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6109277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pPr fontAlgn="base">
              <a:defRPr/>
            </a:pPr>
            <a:endParaRPr lang="es-AR" sz="900" dirty="0">
              <a:solidFill>
                <a:srgbClr val="666666"/>
              </a:solidFill>
              <a:latin typeface="Graphik" panose="020B0503030202060203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559591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Office Theme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cc_CoreTemplate_Graphik_100820" id="{49DBA5FE-D7D0-7E4B-91FA-5CF7CE14D163}" vid="{DBC2176E-0E90-094E-B41E-2DF55F5048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8B6D7D4C7ABC4D8DA6239A53AFEB7A" ma:contentTypeVersion="3" ma:contentTypeDescription="Create a new document." ma:contentTypeScope="" ma:versionID="8801e7ed1d4c3408b77fc019f74d0930">
  <xsd:schema xmlns:xsd="http://www.w3.org/2001/XMLSchema" xmlns:xs="http://www.w3.org/2001/XMLSchema" xmlns:p="http://schemas.microsoft.com/office/2006/metadata/properties" xmlns:ns2="1e77a49a-3606-4dcd-9cc0-75e698e4cec8" targetNamespace="http://schemas.microsoft.com/office/2006/metadata/properties" ma:root="true" ma:fieldsID="929b9e8557dadcabfb8dca4ea31e3058" ns2:_="">
    <xsd:import namespace="1e77a49a-3606-4dcd-9cc0-75e698e4cec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77a49a-3606-4dcd-9cc0-75e698e4ce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F3E009-88A6-4F40-9C86-AA050DF591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2D50EAB-2684-422C-B131-B84D670ED6B6}">
  <ds:schemaRefs>
    <ds:schemaRef ds:uri="http://www.w3.org/XML/1998/namespace"/>
    <ds:schemaRef ds:uri="http://purl.org/dc/dcmitype/"/>
    <ds:schemaRef ds:uri="7c1d681d-2a86-46d7-8cd3-8859f073fd44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94cbf6cc-ebf7-49eb-9fe4-f3ecb06996f5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33916AC-68D1-4778-BDB7-2714F77D7B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77a49a-3606-4dcd-9cc0-75e698e4cec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404</TotalTime>
  <Words>32</Words>
  <Application>Microsoft Office PowerPoint</Application>
  <PresentationFormat>Widescreen</PresentationFormat>
  <Paragraphs>10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Graphik</vt:lpstr>
      <vt:lpstr>Graphik Semibold</vt:lpstr>
      <vt:lpstr>System Font</vt:lpstr>
      <vt:lpstr>1_Office Theme</vt:lpstr>
      <vt:lpstr>think-cell Slide</vt:lpstr>
      <vt:lpstr>SC&amp;O – Management Consulting Sr. Manager (CL 6)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 Cosenza Supply Chain &amp; Operations Manager</dc:title>
  <dc:creator>Sabaté, Carolina</dc:creator>
  <cp:lastModifiedBy>Fraire, Maribel</cp:lastModifiedBy>
  <cp:revision>24</cp:revision>
  <dcterms:created xsi:type="dcterms:W3CDTF">2023-02-02T13:31:33Z</dcterms:created>
  <dcterms:modified xsi:type="dcterms:W3CDTF">2026-01-07T13:54:59Z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0x0101004F8B6D7D4C7ABC4D8DA6239A53AFEB7A</vt:lpwstr>
  </property>
  <property fmtid="{D5CDD505-2E9C-101B-9397-08002B2CF9AE}" pid="3" name="MediaServiceImageTags">
    <vt:lpwstr/>
  </property>
</Properties>
</file>