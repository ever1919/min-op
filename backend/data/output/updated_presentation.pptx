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7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877" autoAdjust="0"/>
  </p:normalViewPr>
  <p:slideViewPr>
    <p:cSldViewPr snapToGrid="0">
      <p:cViewPr>
        <p:scale>
          <a:sx n="80" d="100"/>
          <a:sy n="80" d="100"/>
        </p:scale>
        <p:origin x="60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ACA13-D921-4963-933E-D3FA6435469F}" type="datetimeFigureOut">
              <a:rPr lang="es-AR" smtClean="0"/>
              <a:t>26/12/2025</a:t>
            </a:fld>
            <a:endParaRPr lang="es-A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BFDA85-3447-4A67-BCAA-6A31B5A6ABB5}" type="slidenum">
              <a:rPr lang="es-AR" smtClean="0"/>
              <a:t>‹#›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56432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C157E0A-F321-48DC-AF94-681D4DCF344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0500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BAB3946-10BF-2081-C1F9-A308DE9155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629620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BAB3946-10BF-2081-C1F9-A308DE9155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990600"/>
          </a:xfrm>
        </p:spPr>
        <p:txBody>
          <a:bodyPr vert="horz"/>
          <a:lstStyle>
            <a:lvl1pPr rtl="0">
              <a:defRPr sz="3600"/>
            </a:lvl1pPr>
          </a:lstStyle>
          <a:p>
            <a:r>
              <a:rPr lang="en-US"/>
              <a:t>Place headline here (36pt, min 30pt)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81001" y="1371601"/>
            <a:ext cx="11430000" cy="4940300"/>
          </a:xfrm>
        </p:spPr>
        <p:txBody>
          <a:bodyPr/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37485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1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79656BFC-80D5-3A7C-A046-42E03AD108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570940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79656BFC-80D5-3A7C-A046-42E03AD108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alpha val="75000"/>
                  </a:schemeClr>
                </a:solidFill>
              </a:rPr>
              <a:t>Copyright © 2025 Accenture. All rights reserved.</a:t>
            </a:r>
            <a:endParaRPr lang="en-US" noProof="0" dirty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US" sz="800" smtClean="0">
                <a:solidFill>
                  <a:schemeClr val="tx1">
                    <a:alpha val="75000"/>
                  </a:schemeClr>
                </a:solidFill>
              </a:rPr>
              <a:pPr marL="0" marR="0" lvl="0" indent="0" algn="r" defTabSz="2286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rtl="0"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s-MX" smtClean="0"/>
              <a:pPr algn="r" defTabSz="228600">
                <a:spcAft>
                  <a:spcPts val="1200"/>
                </a:spcAft>
              </a:pPr>
              <a:t>‹#›</a:t>
            </a:fld>
            <a:endParaRPr lang="es-MX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s-MX" smtClean="0"/>
              <a:pPr/>
              <a:t>viernes, 26 de diciembre de 2025</a:t>
            </a:fld>
            <a:endParaRPr lang="es-MX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22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06E03440-0DFF-F641-5750-C581B127062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7711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592" imgH="591" progId="TCLayout.ActiveDocument.1">
                  <p:embed/>
                </p:oleObj>
              </mc:Choice>
              <mc:Fallback>
                <p:oleObj name="think-cell Slide" r:id="rId4" imgW="592" imgH="591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06E03440-0DFF-F641-5750-C581B127062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8DB0432-9414-4CD8-9C5D-EF2E5C735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4148" y="666172"/>
            <a:ext cx="10339251" cy="682808"/>
          </a:xfrm>
        </p:spPr>
        <p:txBody>
          <a:bodyPr vert="horz" anchor="ctr"/>
          <a:lstStyle/>
          <a:p>
            <a:r>
              <a:rPr lang="en-US" sz="3200" b="0" dirty="0">
                <a:highlight>
                  <a:srgbClr val="FFFF00"/>
                </a:highlight>
              </a:rPr>
              <a:t>SC&amp;O – Management Consulting Sr. Manager (CL 6)</a:t>
            </a:r>
            <a:endParaRPr lang="en-US" sz="3200" dirty="0">
              <a:highlight>
                <a:srgbClr val="FFFF00"/>
              </a:highlight>
            </a:endParaRPr>
          </a:p>
        </p:txBody>
      </p:sp>
      <p:sp>
        <p:nvSpPr>
          <p:cNvPr id="4" name="Functional Experience">
            <a:extLst>
              <a:ext uri="{FF2B5EF4-FFF2-40B4-BE49-F238E27FC236}">
                <a16:creationId xmlns:a16="http://schemas.microsoft.com/office/drawing/2014/main" id="{7F60CA17-433C-4DA3-8A65-8F610DC5A2B5}"/>
              </a:ext>
            </a:extLst>
          </p:cNvPr>
          <p:cNvSpPr/>
          <p:nvPr/>
        </p:nvSpPr>
        <p:spPr>
          <a:xfrm>
            <a:off x="381539" y="4864359"/>
            <a:ext cx="1740677" cy="199364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Project Management Lead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MES Product Owner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Analytics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QA and Test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PLC Control Programmer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Systems Integration Engineer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020B0-E321-4B50-910C-11BDE4E56361}"/>
              </a:ext>
            </a:extLst>
          </p:cNvPr>
          <p:cNvSpPr/>
          <p:nvPr/>
        </p:nvSpPr>
        <p:spPr>
          <a:xfrm>
            <a:off x="381000" y="1602604"/>
            <a:ext cx="3127654" cy="22659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@accenture.com</a:t>
            </a:r>
          </a:p>
        </p:txBody>
      </p:sp>
      <p:sp>
        <p:nvSpPr>
          <p:cNvPr id="6" name="Profile Overview">
            <a:extLst>
              <a:ext uri="{FF2B5EF4-FFF2-40B4-BE49-F238E27FC236}">
                <a16:creationId xmlns:a16="http://schemas.microsoft.com/office/drawing/2014/main" id="{5E2451BC-D597-4BCF-B773-4EE789539D75}"/>
              </a:ext>
            </a:extLst>
          </p:cNvPr>
          <p:cNvSpPr/>
          <p:nvPr/>
        </p:nvSpPr>
        <p:spPr>
          <a:xfrm>
            <a:off x="381000" y="2120642"/>
            <a:ext cx="3127654" cy="1413614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Electronic engineer and project manager with experience leading MES implementations and industrial automation projects. Proficient in </a:t>
            </a:r>
            <a:r>
              <a:rPr b="1" sz="900">
                <a:solidFill>
                  <a:srgbClr val="000000"/>
                </a:solidFill>
                <a:latin typeface="Graphik"/>
              </a:rPr>
              <a:t>Python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SQL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PLC</a:t>
            </a:r>
            <a:r>
              <a:rPr sz="900">
                <a:solidFill>
                  <a:srgbClr val="000000"/>
                </a:solidFill>
                <a:latin typeface="Graphik"/>
              </a:rPr>
              <a:t> programming; skilled in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Analytics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MES product ownership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project management</a:t>
            </a:r>
            <a:r>
              <a:rPr sz="900">
                <a:solidFill>
                  <a:srgbClr val="000000"/>
                </a:solidFill>
                <a:latin typeface="Graphik"/>
              </a:rPr>
              <a:t>, QA and systems integration; proven ability to coordinate multidisciplinary teams and deliver IT-driven manufacturing improvements.</a:t>
            </a:r>
          </a:p>
        </p:txBody>
      </p:sp>
      <p:sp>
        <p:nvSpPr>
          <p:cNvPr id="7" name="Industry Experience">
            <a:extLst>
              <a:ext uri="{FF2B5EF4-FFF2-40B4-BE49-F238E27FC236}">
                <a16:creationId xmlns:a16="http://schemas.microsoft.com/office/drawing/2014/main" id="{4C9455BE-8EED-4604-9C72-8BBC0CFFC2DC}"/>
              </a:ext>
            </a:extLst>
          </p:cNvPr>
          <p:cNvSpPr/>
          <p:nvPr/>
        </p:nvSpPr>
        <p:spPr>
          <a:xfrm>
            <a:off x="2201332" y="4961467"/>
            <a:ext cx="1307322" cy="1884236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Automotive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Software and Platforms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High Tech</a:t>
            </a:r>
          </a:p>
        </p:txBody>
      </p:sp>
      <p:sp>
        <p:nvSpPr>
          <p:cNvPr id="9" name="Professional Education">
            <a:extLst>
              <a:ext uri="{FF2B5EF4-FFF2-40B4-BE49-F238E27FC236}">
                <a16:creationId xmlns:a16="http://schemas.microsoft.com/office/drawing/2014/main" id="{A4481A3F-5D57-420E-9C84-56D1E06B122E}"/>
              </a:ext>
            </a:extLst>
          </p:cNvPr>
          <p:cNvSpPr/>
          <p:nvPr/>
        </p:nvSpPr>
        <p:spPr>
          <a:xfrm>
            <a:off x="381000" y="3808086"/>
            <a:ext cx="3127654" cy="740461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2"/>
            </a:solidFill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of Electronic Engineering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Postgraduate Diploma in Project Management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85E9D2-4934-4E1F-87A3-4228EB9788C5}"/>
              </a:ext>
            </a:extLst>
          </p:cNvPr>
          <p:cNvSpPr/>
          <p:nvPr/>
        </p:nvSpPr>
        <p:spPr>
          <a:xfrm>
            <a:off x="381540" y="4603148"/>
            <a:ext cx="1740676" cy="261211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Functional Experience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D8E43D-DA2B-4F03-A66C-BF0A68978053}"/>
              </a:ext>
            </a:extLst>
          </p:cNvPr>
          <p:cNvSpPr/>
          <p:nvPr/>
        </p:nvSpPr>
        <p:spPr>
          <a:xfrm>
            <a:off x="381000" y="1371595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Contact Details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BDEB89-9223-4649-B53C-C103DA91BDFD}"/>
              </a:ext>
            </a:extLst>
          </p:cNvPr>
          <p:cNvSpPr/>
          <p:nvPr/>
        </p:nvSpPr>
        <p:spPr>
          <a:xfrm>
            <a:off x="381000" y="1872104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Experience Summary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5382F-EA0B-41AB-8129-B4E7EB807973}"/>
              </a:ext>
            </a:extLst>
          </p:cNvPr>
          <p:cNvSpPr/>
          <p:nvPr/>
        </p:nvSpPr>
        <p:spPr>
          <a:xfrm>
            <a:off x="2201332" y="4603148"/>
            <a:ext cx="1307322" cy="358319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Industry Experience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37CB9B-58CA-46AD-B270-83C31FDC827C}"/>
              </a:ext>
            </a:extLst>
          </p:cNvPr>
          <p:cNvSpPr/>
          <p:nvPr/>
        </p:nvSpPr>
        <p:spPr>
          <a:xfrm>
            <a:off x="3587768" y="1371595"/>
            <a:ext cx="8222692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Selected Relevant Experience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4CE33-60B1-487A-B220-CFC8A2BF7248}"/>
              </a:ext>
            </a:extLst>
          </p:cNvPr>
          <p:cNvSpPr/>
          <p:nvPr/>
        </p:nvSpPr>
        <p:spPr>
          <a:xfrm>
            <a:off x="381000" y="3556871"/>
            <a:ext cx="3127654" cy="228600"/>
          </a:xfrm>
          <a:prstGeom prst="rect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5" rIns="36000" bIns="36005" rtlCol="0" anchor="t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Calibri" panose="020F0502020204030204" pitchFamily="34" charset="0"/>
              </a:rPr>
              <a:t>Education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A437470-73DA-A6CD-A987-21D134032F4C}"/>
              </a:ext>
            </a:extLst>
          </p:cNvPr>
          <p:cNvSpPr/>
          <p:nvPr/>
        </p:nvSpPr>
        <p:spPr>
          <a:xfrm>
            <a:off x="401849" y="287021"/>
            <a:ext cx="988412" cy="96965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US" dirty="0" err="1"/>
          </a:p>
        </p:txBody>
      </p:sp>
      <p:sp>
        <p:nvSpPr>
          <p:cNvPr id="18" name="Name">
            <a:extLst>
              <a:ext uri="{FF2B5EF4-FFF2-40B4-BE49-F238E27FC236}">
                <a16:creationId xmlns:a16="http://schemas.microsoft.com/office/drawing/2014/main" id="{51F5CF41-9D92-BF9B-2D17-31167D39A9AF}"/>
              </a:ext>
            </a:extLst>
          </p:cNvPr>
          <p:cNvSpPr txBox="1">
            <a:spLocks/>
          </p:cNvSpPr>
          <p:nvPr/>
        </p:nvSpPr>
        <p:spPr>
          <a:xfrm>
            <a:off x="1624148" y="231699"/>
            <a:ext cx="10339251" cy="482266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4200">
                <a:solidFill>
                  <a:srgbClr val="FFFFFF"/>
                </a:solidFill>
                <a:latin typeface="Graphik Black"/>
              </a:rPr>
              <a:t>PAULA MARÍA FERNÁNDEZ</a:t>
            </a:r>
          </a:p>
        </p:txBody>
      </p:sp>
      <p:sp>
        <p:nvSpPr>
          <p:cNvPr id="17" name="Role_4">
            <a:extLst>
              <a:ext uri="{FF2B5EF4-FFF2-40B4-BE49-F238E27FC236}">
                <a16:creationId xmlns:a16="http://schemas.microsoft.com/office/drawing/2014/main" id="{3604742C-8AC1-B97D-26EE-73CEC6F6F2E6}"/>
              </a:ext>
            </a:extLst>
          </p:cNvPr>
          <p:cNvSpPr/>
          <p:nvPr/>
        </p:nvSpPr>
        <p:spPr bwMode="auto">
          <a:xfrm>
            <a:off x="3587766" y="5415850"/>
            <a:ext cx="8155581" cy="1152003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Senior Programming &amp; Robotics Instructor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Designed and delivered STEAM curriculum for ages 4–15 focused on fundamentals of </a:t>
            </a:r>
            <a:r>
              <a:rPr b="1" sz="900">
                <a:solidFill>
                  <a:srgbClr val="000000"/>
                </a:solidFill>
                <a:latin typeface="Graphik"/>
              </a:rPr>
              <a:t>electronics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programming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robotics</a:t>
            </a:r>
            <a:r>
              <a:rPr sz="900">
                <a:solidFill>
                  <a:srgbClr val="000000"/>
                </a:solidFill>
                <a:latin typeface="Graphik"/>
              </a:rPr>
              <a:t> to build logical thinking and problem-solving.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Developed hands-on projects, lesson plans and assessment materials to promote active, collaborative learning and sustained student engagement.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Mentored students and supported classroom assistants, facilitating workshops that reinforced practical skills and curiosity in emerging technologies.</a:t>
            </a:r>
          </a:p>
        </p:txBody>
      </p:sp>
      <p:sp>
        <p:nvSpPr>
          <p:cNvPr id="19" name="Role_3">
            <a:extLst>
              <a:ext uri="{FF2B5EF4-FFF2-40B4-BE49-F238E27FC236}">
                <a16:creationId xmlns:a16="http://schemas.microsoft.com/office/drawing/2014/main" id="{40506730-669B-A08A-08F4-CCF7C0F9CFFB}"/>
              </a:ext>
            </a:extLst>
          </p:cNvPr>
          <p:cNvSpPr/>
          <p:nvPr/>
        </p:nvSpPr>
        <p:spPr bwMode="auto">
          <a:xfrm>
            <a:off x="3587765" y="4197874"/>
            <a:ext cx="8155581" cy="1152003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University Engineering Intern — AGV Projects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Participated in design and implementation of </a:t>
            </a:r>
            <a:r>
              <a:rPr b="1" sz="900">
                <a:solidFill>
                  <a:srgbClr val="000000"/>
                </a:solidFill>
                <a:latin typeface="Graphik"/>
              </a:rPr>
              <a:t>AGV</a:t>
            </a:r>
            <a:r>
              <a:rPr sz="900">
                <a:solidFill>
                  <a:srgbClr val="000000"/>
                </a:solidFill>
                <a:latin typeface="Graphik"/>
              </a:rPr>
              <a:t> systems including electrical design, assembly and on-site </a:t>
            </a:r>
            <a:r>
              <a:rPr b="1" sz="900">
                <a:solidFill>
                  <a:srgbClr val="000000"/>
                </a:solidFill>
                <a:latin typeface="Graphik"/>
              </a:rPr>
              <a:t>commissioning</a:t>
            </a:r>
            <a:r>
              <a:rPr sz="900">
                <a:solidFill>
                  <a:srgbClr val="000000"/>
                </a:solidFill>
                <a:latin typeface="Graphik"/>
              </a:rPr>
              <a:t> to validate operational performance.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Programmed and tested control logic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conducted troubleshooting and preventive </a:t>
            </a:r>
            <a:r>
              <a:rPr b="1" sz="900">
                <a:solidFill>
                  <a:srgbClr val="000000"/>
                </a:solidFill>
                <a:latin typeface="Graphik"/>
              </a:rPr>
              <a:t>maintenance</a:t>
            </a:r>
            <a:r>
              <a:rPr sz="900">
                <a:solidFill>
                  <a:srgbClr val="000000"/>
                </a:solidFill>
                <a:latin typeface="Graphik"/>
              </a:rPr>
              <a:t> to ensure system reliability.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Collaborated on technical documentation and system diagrams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AutoCAD</a:t>
            </a:r>
            <a:r>
              <a:rPr sz="900">
                <a:solidFill>
                  <a:srgbClr val="000000"/>
                </a:solidFill>
                <a:latin typeface="Graphik"/>
              </a:rPr>
              <a:t>, supporting handover and operator training materials.</a:t>
            </a:r>
          </a:p>
        </p:txBody>
      </p:sp>
      <p:sp>
        <p:nvSpPr>
          <p:cNvPr id="20" name="Role_2">
            <a:extLst>
              <a:ext uri="{FF2B5EF4-FFF2-40B4-BE49-F238E27FC236}">
                <a16:creationId xmlns:a16="http://schemas.microsoft.com/office/drawing/2014/main" id="{7F67FAF4-8E85-4C92-A6A8-799BB4F907BE}"/>
              </a:ext>
            </a:extLst>
          </p:cNvPr>
          <p:cNvSpPr/>
          <p:nvPr/>
        </p:nvSpPr>
        <p:spPr bwMode="auto">
          <a:xfrm>
            <a:off x="3587765" y="2979899"/>
            <a:ext cx="8155581" cy="1152003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QA Intern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Supported the QA team within </a:t>
            </a:r>
            <a:r>
              <a:rPr b="1" sz="900">
                <a:solidFill>
                  <a:srgbClr val="000000"/>
                </a:solidFill>
                <a:latin typeface="Graphik"/>
              </a:rPr>
              <a:t>Agile</a:t>
            </a:r>
            <a:r>
              <a:rPr sz="900">
                <a:solidFill>
                  <a:srgbClr val="000000"/>
                </a:solidFill>
                <a:latin typeface="Graphik"/>
              </a:rPr>
              <a:t>/</a:t>
            </a:r>
            <a:r>
              <a:rPr b="1" sz="900">
                <a:solidFill>
                  <a:srgbClr val="000000"/>
                </a:solidFill>
                <a:latin typeface="Graphik"/>
              </a:rPr>
              <a:t>Kanban</a:t>
            </a:r>
            <a:r>
              <a:rPr sz="900">
                <a:solidFill>
                  <a:srgbClr val="000000"/>
                </a:solidFill>
                <a:latin typeface="Graphik"/>
              </a:rPr>
              <a:t> frameworks,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Jira</a:t>
            </a:r>
            <a:r>
              <a:rPr sz="900">
                <a:solidFill>
                  <a:srgbClr val="000000"/>
                </a:solidFill>
                <a:latin typeface="Graphik"/>
              </a:rPr>
              <a:t> to track tasks and defects and ensure timely resolution.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Executed and documented </a:t>
            </a:r>
            <a:r>
              <a:rPr b="1" sz="900">
                <a:solidFill>
                  <a:srgbClr val="000000"/>
                </a:solidFill>
                <a:latin typeface="Graphik"/>
              </a:rPr>
              <a:t>manual testing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descriptive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functional testing</a:t>
            </a:r>
            <a:r>
              <a:rPr sz="900">
                <a:solidFill>
                  <a:srgbClr val="000000"/>
                </a:solidFill>
                <a:latin typeface="Graphik"/>
              </a:rPr>
              <a:t>, creating clear test cases and defect reports to improve product quality.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Contributed to test process improvements, defect triage workflows and knowledge transfer to streamline QA operations and reporting.</a:t>
            </a:r>
          </a:p>
        </p:txBody>
      </p:sp>
      <p:sp>
        <p:nvSpPr>
          <p:cNvPr id="21" name="Role_1">
            <a:extLst>
              <a:ext uri="{FF2B5EF4-FFF2-40B4-BE49-F238E27FC236}">
                <a16:creationId xmlns:a16="http://schemas.microsoft.com/office/drawing/2014/main" id="{AC5BD33C-BBD0-4F35-D9E3-8E32CCA337B4}"/>
              </a:ext>
            </a:extLst>
          </p:cNvPr>
          <p:cNvSpPr>
            <a:spLocks noChangeAspect="1"/>
          </p:cNvSpPr>
          <p:nvPr/>
        </p:nvSpPr>
        <p:spPr bwMode="auto">
          <a:xfrm>
            <a:off x="3587765" y="1768882"/>
            <a:ext cx="8155581" cy="1152003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Senior Project Engineering Analyst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Owned business product requirements and led implementation of </a:t>
            </a:r>
            <a:r>
              <a:rPr b="1" sz="900">
                <a:solidFill>
                  <a:srgbClr val="000000"/>
                </a:solidFill>
                <a:latin typeface="Graphik"/>
              </a:rPr>
              <a:t>MES</a:t>
            </a:r>
            <a:r>
              <a:rPr sz="900">
                <a:solidFill>
                  <a:srgbClr val="000000"/>
                </a:solidFill>
                <a:latin typeface="Graphik"/>
              </a:rPr>
              <a:t> solutions, defining functional specifications and conducting </a:t>
            </a:r>
            <a:r>
              <a:rPr b="1" sz="900">
                <a:solidFill>
                  <a:srgbClr val="000000"/>
                </a:solidFill>
                <a:latin typeface="Graphik"/>
              </a:rPr>
              <a:t>user training</a:t>
            </a:r>
            <a:r>
              <a:rPr sz="900">
                <a:solidFill>
                  <a:srgbClr val="000000"/>
                </a:solidFill>
                <a:latin typeface="Graphik"/>
              </a:rPr>
              <a:t> for operators, analysts and leadership.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investment projects for production equipment including </a:t>
            </a:r>
            <a:r>
              <a:rPr b="1" sz="900">
                <a:solidFill>
                  <a:srgbClr val="000000"/>
                </a:solidFill>
                <a:latin typeface="Graphik"/>
              </a:rPr>
              <a:t>project planning</a:t>
            </a:r>
            <a:r>
              <a:rPr sz="900">
                <a:solidFill>
                  <a:srgbClr val="000000"/>
                </a:solidFill>
                <a:latin typeface="Graphik"/>
              </a:rPr>
              <a:t>, schedule control, resource allocation and </a:t>
            </a:r>
            <a:r>
              <a:rPr b="1" sz="900">
                <a:solidFill>
                  <a:srgbClr val="000000"/>
                </a:solidFill>
                <a:latin typeface="Graphik"/>
              </a:rPr>
              <a:t>budget administration</a:t>
            </a:r>
            <a:r>
              <a:rPr sz="900">
                <a:solidFill>
                  <a:srgbClr val="000000"/>
                </a:solidFill>
                <a:latin typeface="Graphik"/>
              </a:rPr>
              <a:t>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MS Project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Coordinated multidisciplinary teams and external suppliers, participating in global IT deployment teams and delivering data-driven monitoring and reporting with </a:t>
            </a:r>
            <a:r>
              <a:rPr b="1" sz="900">
                <a:solidFill>
                  <a:srgbClr val="000000"/>
                </a:solidFill>
                <a:latin typeface="Graphik"/>
              </a:rPr>
              <a:t>Power BI</a:t>
            </a:r>
            <a:r>
              <a:rPr sz="900">
                <a:solidFill>
                  <a:srgbClr val="000000"/>
                </a:solidFill>
                <a:latin typeface="Graphik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55959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Acc_CoreTemplate_Graphik_100820" id="{49DBA5FE-D7D0-7E4B-91FA-5CF7CE14D163}" vid="{DBC2176E-0E90-094E-B41E-2DF55F5048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F8B6D7D4C7ABC4D8DA6239A53AFEB7A" ma:contentTypeVersion="3" ma:contentTypeDescription="Create a new document." ma:contentTypeScope="" ma:versionID="8801e7ed1d4c3408b77fc019f74d0930">
  <xsd:schema xmlns:xsd="http://www.w3.org/2001/XMLSchema" xmlns:xs="http://www.w3.org/2001/XMLSchema" xmlns:p="http://schemas.microsoft.com/office/2006/metadata/properties" xmlns:ns2="1e77a49a-3606-4dcd-9cc0-75e698e4cec8" targetNamespace="http://schemas.microsoft.com/office/2006/metadata/properties" ma:root="true" ma:fieldsID="929b9e8557dadcabfb8dca4ea31e3058" ns2:_="">
    <xsd:import namespace="1e77a49a-3606-4dcd-9cc0-75e698e4cec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77a49a-3606-4dcd-9cc0-75e698e4ce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2D50EAB-2684-422C-B131-B84D670ED6B6}">
  <ds:schemaRefs>
    <ds:schemaRef ds:uri="http://www.w3.org/XML/1998/namespace"/>
    <ds:schemaRef ds:uri="http://purl.org/dc/dcmitype/"/>
    <ds:schemaRef ds:uri="7c1d681d-2a86-46d7-8cd3-8859f073fd44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94cbf6cc-ebf7-49eb-9fe4-f3ecb06996f5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30F3E009-88A6-4F40-9C86-AA050DF591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33916AC-68D1-4778-BDB7-2714F77D7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77a49a-3606-4dcd-9cc0-75e698e4cec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391</TotalTime>
  <Words>32</Words>
  <Application>Microsoft Office PowerPoint</Application>
  <PresentationFormat>Widescreen</PresentationFormat>
  <Paragraphs>10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Graphik</vt:lpstr>
      <vt:lpstr>System Font</vt:lpstr>
      <vt:lpstr>1_Office Theme</vt:lpstr>
      <vt:lpstr>think-cell Slide</vt:lpstr>
      <vt:lpstr>SC&amp;O – Management Consulting Sr. Manager (CL 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Carla Cosenza Supply Chain &amp; Operations Manager</dc:title>
  <dc:creator>Sabaté, Carolina</dc:creator>
  <cp:lastModifiedBy>Fraire, Maribel</cp:lastModifiedBy>
  <cp:revision>19</cp:revision>
  <dcterms:created xsi:type="dcterms:W3CDTF">2023-02-02T13:31:33Z</dcterms:created>
  <dcterms:modified xsi:type="dcterms:W3CDTF">2025-12-26T17:34:30Z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0x0101004F8B6D7D4C7ABC4D8DA6239A53AFEB7A</vt:lpwstr>
  </property>
  <property fmtid="{D5CDD505-2E9C-101B-9397-08002B2CF9AE}" pid="3" name="MediaServiceImageTags">
    <vt:lpwstr/>
  </property>
</Properties>
</file>